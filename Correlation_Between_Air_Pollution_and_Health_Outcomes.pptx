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1"/>
            <a:ext cx="7772400" cy="1828799"/>
          </a:xfrm>
        </p:spPr>
        <p:txBody>
          <a:bodyPr/>
          <a:lstStyle/>
          <a:p>
            <a:r>
              <a:rPr dirty="0"/>
              <a:t>Correlation Between Air Pollution and Health Outcomes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48025"/>
            <a:ext cx="6400800" cy="2390775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Prepared By: Lisa Roman Foss, Richa Cristina </a:t>
            </a:r>
            <a:r>
              <a:rPr dirty="0" err="1"/>
              <a:t>Podakkal</a:t>
            </a:r>
            <a:r>
              <a:rPr dirty="0"/>
              <a:t>, </a:t>
            </a:r>
            <a:r>
              <a:rPr dirty="0" err="1"/>
              <a:t>Sharvani</a:t>
            </a:r>
            <a:r>
              <a:rPr dirty="0"/>
              <a:t> Sri </a:t>
            </a:r>
            <a:r>
              <a:rPr dirty="0" err="1"/>
              <a:t>Audari</a:t>
            </a:r>
            <a:endParaRPr dirty="0"/>
          </a:p>
          <a:p>
            <a:r>
              <a:rPr dirty="0"/>
              <a:t>Faculty Guide: Dr. Salem Othman</a:t>
            </a:r>
          </a:p>
          <a:p>
            <a:r>
              <a:rPr lang="en-US" dirty="0"/>
              <a:t>Teaching </a:t>
            </a:r>
            <a:r>
              <a:rPr dirty="0"/>
              <a:t>Assistant: </a:t>
            </a:r>
            <a:r>
              <a:rPr dirty="0" err="1"/>
              <a:t>Shubhika</a:t>
            </a:r>
            <a:r>
              <a:rPr dirty="0"/>
              <a:t> Jain</a:t>
            </a:r>
          </a:p>
          <a:p>
            <a:r>
              <a:rPr dirty="0"/>
              <a:t>Group: Group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- Air pollution is a significant global health risk contributing to respiratory, cardiovascular, and chronic diseases.</a:t>
            </a:r>
          </a:p>
          <a:p>
            <a:pPr marL="0" indent="0">
              <a:buNone/>
            </a:pPr>
            <a:r>
              <a:rPr sz="2400" dirty="0"/>
              <a:t>- WHO estimates 7 million premature deaths annually due to air pollution.</a:t>
            </a:r>
          </a:p>
          <a:p>
            <a:pPr marL="0" indent="0">
              <a:buNone/>
            </a:pPr>
            <a:r>
              <a:rPr sz="2400" dirty="0"/>
              <a:t>- Pollutants analyzed: PM2.5, PM10, NO2, SO2, CO, O3.</a:t>
            </a:r>
          </a:p>
          <a:p>
            <a:pPr marL="0" indent="0">
              <a:buNone/>
            </a:pPr>
            <a:r>
              <a:rPr sz="2400" dirty="0"/>
              <a:t>- Objectives:</a:t>
            </a:r>
          </a:p>
          <a:p>
            <a:pPr marL="0" indent="0">
              <a:buNone/>
            </a:pPr>
            <a:r>
              <a:rPr sz="2400" dirty="0"/>
              <a:t>  1. Explore correlations between pollution and health outcomes.</a:t>
            </a:r>
          </a:p>
          <a:p>
            <a:pPr marL="0" indent="0">
              <a:buNone/>
            </a:pPr>
            <a:r>
              <a:rPr sz="2400" dirty="0"/>
              <a:t>  2. Identify most affected regions.</a:t>
            </a:r>
          </a:p>
          <a:p>
            <a:pPr marL="0" indent="0">
              <a:buNone/>
            </a:pPr>
            <a:r>
              <a:rPr sz="2400" dirty="0"/>
              <a:t>  3. Develop predictive models for mortality rates.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800" dirty="0"/>
              <a:t>- Cohen et al. (2017): PM2.5 exposure and increased mortality, especially cardiovascular diseases.</a:t>
            </a:r>
          </a:p>
          <a:p>
            <a:pPr marL="0" indent="0">
              <a:buNone/>
            </a:pPr>
            <a:r>
              <a:rPr sz="2800" dirty="0"/>
              <a:t>- </a:t>
            </a:r>
            <a:r>
              <a:rPr sz="2800" dirty="0" err="1"/>
              <a:t>Lelieveld</a:t>
            </a:r>
            <a:r>
              <a:rPr sz="2800" dirty="0"/>
              <a:t> et al. (2019): Global mortality due to energy source emissions.</a:t>
            </a:r>
          </a:p>
          <a:p>
            <a:pPr marL="0" indent="0">
              <a:buNone/>
            </a:pPr>
            <a:r>
              <a:rPr sz="2800" dirty="0"/>
              <a:t>- Kim et al. (2020): Machine learning for predicting health impacts.</a:t>
            </a:r>
          </a:p>
          <a:p>
            <a:pPr marL="0" indent="0">
              <a:buNone/>
            </a:pPr>
            <a:r>
              <a:rPr sz="2800" dirty="0"/>
              <a:t>- Challenges: Multifactorial impacts complicate correlations.</a:t>
            </a:r>
          </a:p>
          <a:p>
            <a:pPr marL="0" indent="0">
              <a:buNone/>
            </a:pPr>
            <a:r>
              <a:rPr sz="2800" dirty="0"/>
              <a:t>- Contribution: Global dataset integration with advanced visualization and statistical methods.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8250"/>
            <a:ext cx="8229600" cy="48879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- Datasets:</a:t>
            </a:r>
          </a:p>
          <a:p>
            <a:pPr marL="0" indent="0">
              <a:buNone/>
            </a:pPr>
            <a:r>
              <a:rPr sz="2400" dirty="0"/>
              <a:t>  1. Global Air Quality: Real-time pollutant measurements (PM2.5, NO2).</a:t>
            </a:r>
          </a:p>
          <a:p>
            <a:pPr marL="0" indent="0">
              <a:buNone/>
            </a:pPr>
            <a:r>
              <a:rPr sz="2400" dirty="0"/>
              <a:t>  2. Mortality: Death rates linked to air pollution (indoor and outdoor).</a:t>
            </a:r>
          </a:p>
          <a:p>
            <a:pPr marL="0" indent="0">
              <a:buNone/>
            </a:pPr>
            <a:r>
              <a:rPr sz="2400" dirty="0"/>
              <a:t>- Data Preprocessing: Merging datasets, imputation, normalization.</a:t>
            </a:r>
          </a:p>
          <a:p>
            <a:pPr marL="0" indent="0">
              <a:buNone/>
            </a:pPr>
            <a:r>
              <a:rPr sz="2400" dirty="0"/>
              <a:t>- Analytical Techniques:</a:t>
            </a:r>
          </a:p>
          <a:p>
            <a:pPr marL="0" indent="0">
              <a:buNone/>
            </a:pPr>
            <a:r>
              <a:rPr sz="2400" dirty="0"/>
              <a:t>  1. Correlation Analysis: Pearson’s correlation coefficient.</a:t>
            </a:r>
          </a:p>
          <a:p>
            <a:pPr marL="0" indent="0">
              <a:buNone/>
            </a:pPr>
            <a:r>
              <a:rPr sz="2400" dirty="0"/>
              <a:t>  2. Visualization: Heatmaps, bar charts, trend lines.</a:t>
            </a:r>
          </a:p>
          <a:p>
            <a:pPr marL="0" indent="0">
              <a:buNone/>
            </a:pPr>
            <a:r>
              <a:rPr sz="2400" dirty="0"/>
              <a:t>  3. Regression Modeling: Linear regression to predict mortality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PM2.5 shows the strongest correlation with mortality (r = 0.78).</a:t>
            </a:r>
          </a:p>
          <a:p>
            <a:pPr marL="0" indent="0">
              <a:buNone/>
            </a:pPr>
            <a:r>
              <a:rPr dirty="0"/>
              <a:t>- NO2 has a moderate correlation (r = 0.65).</a:t>
            </a:r>
          </a:p>
          <a:p>
            <a:pPr marL="0" indent="0">
              <a:buNone/>
            </a:pPr>
            <a:r>
              <a:rPr dirty="0"/>
              <a:t>- Heatmap visualizes pollutant-mortality correlations.</a:t>
            </a:r>
          </a:p>
          <a:p>
            <a:pPr marL="0" indent="0">
              <a:buNone/>
            </a:pPr>
            <a:r>
              <a:rPr dirty="0"/>
              <a:t>- Fine particulate matter (PM2.5) is the most critical health risk factor.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Regional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India: High mortality from total air pollution (211.4/100,000).</a:t>
            </a:r>
          </a:p>
          <a:p>
            <a:pPr marL="0" indent="0">
              <a:buNone/>
            </a:pPr>
            <a:r>
              <a:rPr dirty="0"/>
              <a:t>- China: Leading outdoor ozone pollution deaths (35.3/100,000).</a:t>
            </a:r>
          </a:p>
          <a:p>
            <a:pPr marL="0" indent="0">
              <a:buNone/>
            </a:pPr>
            <a:r>
              <a:rPr dirty="0"/>
              <a:t>- Egypt: Severe outdoor particulate pollution (119.5/100,000).</a:t>
            </a:r>
          </a:p>
          <a:p>
            <a:pPr marL="0" indent="0">
              <a:buNone/>
            </a:pPr>
            <a:r>
              <a:rPr dirty="0"/>
              <a:t>- Urbanization and industrial emissions are major contributors.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from Pollution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Total Deaths: India exceeds 200 deaths/100,000.</a:t>
            </a:r>
          </a:p>
          <a:p>
            <a:pPr marL="0" indent="0">
              <a:buNone/>
            </a:pPr>
            <a:r>
              <a:rPr dirty="0"/>
              <a:t>- Indoor Air Pollution: India ~150 deaths/100,000 (clean cooking fuel needed).</a:t>
            </a:r>
          </a:p>
          <a:p>
            <a:pPr marL="0" indent="0">
              <a:buNone/>
            </a:pPr>
            <a:r>
              <a:rPr dirty="0"/>
              <a:t>- Outdoor Particulate Pollution: Egypt ~125 deaths/100,000.</a:t>
            </a:r>
          </a:p>
          <a:p>
            <a:pPr marL="0" indent="0">
              <a:buNone/>
            </a:pPr>
            <a:r>
              <a:rPr dirty="0"/>
              <a:t>- Outdoor Ozone Pollution: China ~30 deaths/100,000.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PM2.5 emerged as the most critical pollutant.</a:t>
            </a:r>
          </a:p>
          <a:p>
            <a:pPr marL="0" indent="0">
              <a:buNone/>
            </a:pPr>
            <a:r>
              <a:rPr dirty="0"/>
              <a:t>- Air pollution disproportionately affects low- and middle-income countries.</a:t>
            </a:r>
          </a:p>
          <a:p>
            <a:pPr marL="0" indent="0">
              <a:buNone/>
            </a:pPr>
            <a:r>
              <a:rPr dirty="0"/>
              <a:t>- Recommendations:</a:t>
            </a:r>
          </a:p>
          <a:p>
            <a:pPr marL="0" indent="0">
              <a:buNone/>
            </a:pPr>
            <a:r>
              <a:rPr dirty="0"/>
              <a:t>  1. Cleaner energy sources.</a:t>
            </a:r>
          </a:p>
          <a:p>
            <a:pPr marL="0" indent="0">
              <a:buNone/>
            </a:pPr>
            <a:r>
              <a:rPr dirty="0"/>
              <a:t>  2. Stricter environmental policies.</a:t>
            </a:r>
          </a:p>
          <a:p>
            <a:pPr marL="0" indent="0">
              <a:buNone/>
            </a:pPr>
            <a:r>
              <a:rPr dirty="0"/>
              <a:t>  3. Public health awareness campaigns.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Advanced machine learning models for improved predictions.</a:t>
            </a:r>
          </a:p>
          <a:p>
            <a:pPr marL="0" indent="0">
              <a:buNone/>
            </a:pPr>
            <a:r>
              <a:rPr dirty="0"/>
              <a:t>- Region-specific analyses for targeted interventions.</a:t>
            </a:r>
          </a:p>
          <a:p>
            <a:pPr marL="0" indent="0">
              <a:buNone/>
            </a:pPr>
            <a:r>
              <a:rPr dirty="0"/>
              <a:t>- Study the financial and healthcare burden of pollution-related illnesses.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Cohen, A. J., et al. (2017). Global burden of disease attributable to ambient air pollution.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dirty="0" err="1"/>
              <a:t>Lelieveld</a:t>
            </a:r>
            <a:r>
              <a:rPr dirty="0"/>
              <a:t> et al. (2019). Mortality due to air pollution.</a:t>
            </a:r>
          </a:p>
          <a:p>
            <a:pPr marL="0" indent="0">
              <a:buNone/>
            </a:pPr>
            <a:r>
              <a:rPr dirty="0"/>
              <a:t>3. Global Air Quality Dataset (2024). Kaggle.</a:t>
            </a:r>
          </a:p>
          <a:p>
            <a:pPr marL="0" indent="0">
              <a:buNone/>
            </a:pPr>
            <a:r>
              <a:rPr dirty="0"/>
              <a:t>4. WHO Reports on Air Pollution and Health.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5. Death rates from Air Pollution (EDA). Kaggle.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574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Correlation Between Air Pollution and Health Outcomes</vt:lpstr>
      <vt:lpstr>Introduction</vt:lpstr>
      <vt:lpstr>Related Work</vt:lpstr>
      <vt:lpstr>Methodology</vt:lpstr>
      <vt:lpstr>Results - Correlation Analysis</vt:lpstr>
      <vt:lpstr>Results - Regional Insights</vt:lpstr>
      <vt:lpstr>Insights from Pollution Types</vt:lpstr>
      <vt:lpstr>Conclusion</vt:lpstr>
      <vt:lpstr>Future Scope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Correlation Between Air Pollution and Health Outcomes</dc:title>
  <dc:subject/>
  <dc:creator/>
  <cp:keywords/>
  <dc:description>generated using python-pptx</dc:description>
  <cp:lastModifiedBy>Lisa Foss</cp:lastModifiedBy>
  <cp:revision>2</cp:revision>
  <dcterms:created xsi:type="dcterms:W3CDTF">2013-01-27T09:14:16Z</dcterms:created>
  <dcterms:modified xsi:type="dcterms:W3CDTF">2024-11-20T15:49:21Z</dcterms:modified>
  <cp:category/>
</cp:coreProperties>
</file>